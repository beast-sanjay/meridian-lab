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4234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CB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145D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5" name="Image 0" descr="/mnt/data/otsecpro_logo_no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94360"/>
            <a:ext cx="228600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828800"/>
            <a:ext cx="106070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Plant Breaker – Hands-On OT Red Teaming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13232" y="2633472"/>
            <a:ext cx="9875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6466A"/>
                </a:solidFill>
              </a:rPr>
              <a:t>Lab overview • Red-team techniques • MITRE ATT&amp;CK mapping • Defender practices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31520" y="3246120"/>
            <a:ext cx="4572000" cy="0"/>
          </a:xfrm>
          <a:prstGeom prst="line">
            <a:avLst/>
          </a:prstGeom>
          <a:noFill/>
          <a:ln w="38100">
            <a:solidFill>
              <a:srgbClr val="5CBC1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731520" y="3657600"/>
            <a:ext cx="5897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25466"/>
                </a:solidFill>
              </a:rPr>
              <a:t>Training environment only — isolated Docker lab with fictional assets and credentials.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457200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F1FAED"/>
          </a:solidFill>
          <a:ln w="12700">
            <a:solidFill>
              <a:srgbClr val="5CBC1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/>
          <p:nvPr/>
        </p:nvSpPr>
        <p:spPr>
          <a:xfrm>
            <a:off x="804672" y="4636008"/>
            <a:ext cx="14081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CBC1C"/>
                </a:solidFill>
              </a:rPr>
              <a:t>Safety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514600" y="457200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ECF5FE"/>
          </a:solidFill>
          <a:ln w="12700">
            <a:solidFill>
              <a:srgbClr val="145DA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2587752" y="4636008"/>
            <a:ext cx="168249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5DAA"/>
                </a:solidFill>
              </a:rPr>
              <a:t>Resilience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0" y="457200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EEF7FA"/>
          </a:solidFill>
          <a:ln w="12700">
            <a:solidFill>
              <a:srgbClr val="06466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2"/>
          <p:cNvSpPr/>
          <p:nvPr/>
        </p:nvSpPr>
        <p:spPr>
          <a:xfrm>
            <a:off x="4645152" y="4636008"/>
            <a:ext cx="177393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466A"/>
                </a:solidFill>
              </a:rPr>
              <a:t>Performance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9098280" y="6382512"/>
            <a:ext cx="265176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6466A"/>
                </a:solidFill>
              </a:rPr>
              <a:t>OTSecPro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D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5CB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4" name="Image 0" descr="/mnt/data/otsecpro_logo_no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14173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164592"/>
            <a:ext cx="7223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 / Workshop Purpose &amp; Instructor Intro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012680" y="246888"/>
            <a:ext cx="17373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6466A"/>
                </a:solidFill>
              </a:rPr>
              <a:t>OT Security Workshop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20040" y="685800"/>
            <a:ext cx="11567160" cy="0"/>
          </a:xfrm>
          <a:prstGeom prst="line">
            <a:avLst/>
          </a:prstGeom>
          <a:noFill/>
          <a:ln w="12700">
            <a:solidFill>
              <a:srgbClr val="C5E2E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>
            <a:off x="365760" y="6419088"/>
            <a:ext cx="4846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DAA"/>
                </a:solidFill>
              </a:rPr>
              <a:t>Safety  |  Resilience  |  Performance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875520" y="6419088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6466A"/>
                </a:solidFill>
              </a:rPr>
              <a:t>OTSecPro Training Lab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1051560"/>
            <a:ext cx="3749040" cy="4937760"/>
          </a:xfrm>
          <a:prstGeom prst="roundRect">
            <a:avLst>
              <a:gd name="adj" fmla="val 2195"/>
            </a:avLst>
          </a:prstGeom>
          <a:solidFill>
            <a:srgbClr val="F7FAFC"/>
          </a:solidFill>
          <a:ln w="12700">
            <a:solidFill>
              <a:srgbClr val="C5E2E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/>
          <p:nvPr/>
        </p:nvSpPr>
        <p:spPr>
          <a:xfrm>
            <a:off x="82296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5D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Sanjay Hiremath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1828800"/>
            <a:ext cx="310896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425466"/>
                </a:solidFill>
              </a:rPr>
              <a:t>Security Engineer @ ASTRA Cybersecurity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425466"/>
                </a:solidFill>
              </a:rPr>
              <a:t>AI / IT / OT Security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425466"/>
                </a:solidFill>
              </a:rPr>
              <a:t>Focus: OT/ICS visibility, passive fingerprinting, protocol analysis, SOC evidence pipelines and IEC 62443-oriented assessments.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22960" y="425196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F1FAED"/>
          </a:solidFill>
          <a:ln w="12700">
            <a:solidFill>
              <a:srgbClr val="5CBC1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1"/>
          <p:cNvSpPr/>
          <p:nvPr/>
        </p:nvSpPr>
        <p:spPr>
          <a:xfrm>
            <a:off x="896112" y="4315968"/>
            <a:ext cx="2048256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CBC1C"/>
                </a:solidFill>
              </a:rPr>
              <a:t>Workshop stance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22960" y="4709160"/>
            <a:ext cx="29718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B2545"/>
                </a:solidFill>
              </a:rPr>
              <a:t>Plant context first. Tools second. Evidence always.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663440" y="1188721"/>
            <a:ext cx="6995160" cy="1200793"/>
          </a:xfrm>
          <a:prstGeom prst="roundRect">
            <a:avLst>
              <a:gd name="adj" fmla="val 6667"/>
            </a:avLst>
          </a:prstGeom>
          <a:solidFill>
            <a:srgbClr val="EEF7FA"/>
          </a:solidFill>
          <a:ln w="12700">
            <a:solidFill>
              <a:srgbClr val="63A7B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4"/>
          <p:cNvSpPr/>
          <p:nvPr/>
        </p:nvSpPr>
        <p:spPr>
          <a:xfrm>
            <a:off x="4983480" y="1261872"/>
            <a:ext cx="2743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646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outcome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983480" y="1664208"/>
            <a:ext cx="62179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25466"/>
                </a:solidFill>
              </a:rPr>
              <a:t>Understand how an OT red-team path moves across Purdue levels and how defenders convert each step into high-confidence evidence and response priorities.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663440" y="2743200"/>
            <a:ext cx="20574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C5E2E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7"/>
          <p:cNvSpPr/>
          <p:nvPr/>
        </p:nvSpPr>
        <p:spPr>
          <a:xfrm>
            <a:off x="4828032" y="2971800"/>
            <a:ext cx="1737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5D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Plant model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828032" y="3429000"/>
            <a:ext cx="16916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25466"/>
                </a:solidFill>
              </a:rPr>
              <a:t>Purdue levels, zones, conduits, process impact</a:t>
            </a:r>
            <a:endParaRPr lang="en-US" sz="1220" dirty="0"/>
          </a:p>
        </p:txBody>
      </p:sp>
      <p:sp>
        <p:nvSpPr>
          <p:cNvPr id="22" name="Shape 19"/>
          <p:cNvSpPr/>
          <p:nvPr/>
        </p:nvSpPr>
        <p:spPr>
          <a:xfrm>
            <a:off x="6995160" y="2743200"/>
            <a:ext cx="20574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5CBC1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0"/>
          <p:cNvSpPr/>
          <p:nvPr/>
        </p:nvSpPr>
        <p:spPr>
          <a:xfrm>
            <a:off x="7159752" y="2971800"/>
            <a:ext cx="1737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5CBC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Adversary path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159752" y="3429000"/>
            <a:ext cx="16916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25466"/>
                </a:solidFill>
              </a:rPr>
              <a:t>Foothold, pivot, discovery, control access</a:t>
            </a:r>
            <a:endParaRPr lang="en-US" sz="1220" dirty="0"/>
          </a:p>
        </p:txBody>
      </p:sp>
      <p:sp>
        <p:nvSpPr>
          <p:cNvPr id="25" name="Shape 22"/>
          <p:cNvSpPr/>
          <p:nvPr/>
        </p:nvSpPr>
        <p:spPr>
          <a:xfrm>
            <a:off x="9326880" y="2743200"/>
            <a:ext cx="205740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C5E2E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3"/>
          <p:cNvSpPr/>
          <p:nvPr/>
        </p:nvSpPr>
        <p:spPr>
          <a:xfrm>
            <a:off x="9491472" y="2971800"/>
            <a:ext cx="1737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5D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Defender view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491472" y="3429000"/>
            <a:ext cx="16916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425466"/>
                </a:solidFill>
              </a:rPr>
              <a:t>Network, endpoint, HMI and process evidence</a:t>
            </a:r>
            <a:endParaRPr lang="en-US" sz="1220" dirty="0"/>
          </a:p>
        </p:txBody>
      </p:sp>
      <p:sp>
        <p:nvSpPr>
          <p:cNvPr id="28" name="Text 25"/>
          <p:cNvSpPr/>
          <p:nvPr/>
        </p:nvSpPr>
        <p:spPr>
          <a:xfrm>
            <a:off x="365760" y="6172200"/>
            <a:ext cx="114300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670" i="1" dirty="0">
                <a:solidFill>
                  <a:srgbClr val="7B8794"/>
                </a:solidFill>
              </a:rPr>
              <a:t>Based on the uploaded Meridian Nuclear Generating Station lab guide; all systems are fictional and training-only.</a:t>
            </a:r>
            <a:endParaRPr lang="en-US" sz="6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D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5CB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mnt/data/otsecpro_logo_no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14173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164592"/>
            <a:ext cx="7223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 / Lab Scenario and Purdue Topology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012680" y="246888"/>
            <a:ext cx="17373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6466A"/>
                </a:solidFill>
              </a:rPr>
              <a:t>OT Security Workshop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20040" y="685800"/>
            <a:ext cx="11567160" cy="0"/>
          </a:xfrm>
          <a:prstGeom prst="line">
            <a:avLst/>
          </a:prstGeom>
          <a:noFill/>
          <a:ln w="12700">
            <a:solidFill>
              <a:srgbClr val="C5E2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365760" y="6419088"/>
            <a:ext cx="4846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DAA"/>
                </a:solidFill>
              </a:rPr>
              <a:t>Safety  |  Resilience  |  Performance</a:t>
            </a:r>
            <a:endParaRPr lang="en-US" sz="950" dirty="0"/>
          </a:p>
        </p:txBody>
      </p:sp>
      <p:pic>
        <p:nvPicPr>
          <p:cNvPr id="9" name="Picture 8" descr="b38cef63-557e-5edb-9a7c-e0447dc58380.png"/>
          <p:cNvPicPr>
            <a:picLocks noChangeAspect="1"/>
          </p:cNvPicPr>
          <p:nvPr/>
        </p:nvPicPr>
        <p:blipFill>
          <a:blip r:embed="rId4"/>
          <a:srcRect l="682" t="571" r="66" b="-571"/>
          <a:stretch>
            <a:fillRect/>
          </a:stretch>
        </p:blipFill>
        <p:spPr>
          <a:xfrm>
            <a:off x="286389" y="997731"/>
            <a:ext cx="115671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D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5CB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mnt/data/otsecpro_logo_no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14173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164592"/>
            <a:ext cx="7223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 / Red-Team Techniques Used in the OT Plant Lab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012680" y="246888"/>
            <a:ext cx="17373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6466A"/>
                </a:solidFill>
              </a:rPr>
              <a:t>OT Security Workshop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20040" y="685800"/>
            <a:ext cx="11567160" cy="0"/>
          </a:xfrm>
          <a:prstGeom prst="line">
            <a:avLst/>
          </a:prstGeom>
          <a:noFill/>
          <a:ln w="12700">
            <a:solidFill>
              <a:srgbClr val="C5E2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365760" y="6419088"/>
            <a:ext cx="4846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DAA"/>
                </a:solidFill>
              </a:rPr>
              <a:t>Safety  |  Resilience  |  Performance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875520" y="6419088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6466A"/>
                </a:solidFill>
              </a:rPr>
              <a:t>OTSecPro Training Lab</a:t>
            </a:r>
            <a:endParaRPr lang="en-US" sz="950" dirty="0"/>
          </a:p>
        </p:txBody>
      </p:sp>
      <p:sp>
        <p:nvSpPr>
          <p:cNvPr id="10" name="TextBox 9"/>
          <p:cNvSpPr txBox="1"/>
          <p:nvPr/>
        </p:nvSpPr>
        <p:spPr>
          <a:xfrm>
            <a:off x="502920" y="8686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3A7B8"/>
                </a:solidFill>
                <a:latin typeface="Aptos"/>
              </a:rPr>
              <a:t>Technique chain shown at workshop level: no executable commands, all actions remain inside the isolated Docker plant lab.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23444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13232" y="1435608"/>
            <a:ext cx="384048" cy="384048"/>
          </a:xfrm>
          <a:prstGeom prst="ellipse">
            <a:avLst/>
          </a:prstGeom>
          <a:solidFill>
            <a:srgbClr val="14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1490472"/>
            <a:ext cx="384048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399032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6466A"/>
                </a:solidFill>
                <a:latin typeface="Aptos"/>
              </a:rPr>
              <a:t>Initial foothold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1728216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344054"/>
                </a:solidFill>
                <a:latin typeface="Aptos"/>
              </a:rPr>
              <a:t>Enterprise-facing web weakness provides the first entry point into the lab network.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23444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325112" y="1435608"/>
            <a:ext cx="384048" cy="384048"/>
          </a:xfrm>
          <a:prstGeom prst="ellipse">
            <a:avLst/>
          </a:prstGeom>
          <a:solidFill>
            <a:srgbClr val="5CB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25112" y="1490472"/>
            <a:ext cx="384048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1399032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6466A"/>
                </a:solidFill>
                <a:latin typeface="Aptos"/>
              </a:rPr>
              <a:t>Privilege &amp; credential exposure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1814476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dirty="0">
                <a:solidFill>
                  <a:srgbClr val="344054"/>
                </a:solidFill>
                <a:latin typeface="Aptos"/>
              </a:rPr>
              <a:t>Weak local privilege boundary exposes jump-host access material for the next segment.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123444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936992" y="1435608"/>
            <a:ext cx="384048" cy="384048"/>
          </a:xfrm>
          <a:prstGeom prst="ellipse">
            <a:avLst/>
          </a:prstGeom>
          <a:solidFill>
            <a:srgbClr val="F28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36992" y="1490472"/>
            <a:ext cx="384048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1399032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6466A"/>
                </a:solidFill>
                <a:latin typeface="Aptos"/>
              </a:rPr>
              <a:t>Persistence technique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1728216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344054"/>
                </a:solidFill>
                <a:latin typeface="Aptos"/>
              </a:rPr>
              <a:t>Recurring execution keeps access alive after interruption; in the lab this is represented by scheduled relaunch behavior such as cron.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88036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13232" y="3081528"/>
            <a:ext cx="384048" cy="384048"/>
          </a:xfrm>
          <a:prstGeom prst="ellipse">
            <a:avLst/>
          </a:prstGeom>
          <a:solidFill>
            <a:srgbClr val="63A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3136392"/>
            <a:ext cx="384048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3044952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6466A"/>
                </a:solidFill>
                <a:latin typeface="Aptos"/>
              </a:rPr>
              <a:t>Pivot across Purdue levels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3374136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344054"/>
                </a:solidFill>
                <a:latin typeface="Aptos"/>
              </a:rPr>
              <a:t>Controlled proxy/tunnel behavior demonstrates movement from Enterprise to DMZ and toward Supervisory assets.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60520" y="288036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325112" y="3081528"/>
            <a:ext cx="384048" cy="384048"/>
          </a:xfrm>
          <a:prstGeom prst="ellipse">
            <a:avLst/>
          </a:prstGeom>
          <a:solidFill>
            <a:srgbClr val="14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25112" y="3136392"/>
            <a:ext cx="384048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3044952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6466A"/>
                </a:solidFill>
                <a:latin typeface="Aptos"/>
              </a:rPr>
              <a:t>OT discovery &amp; collection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3374136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344054"/>
                </a:solidFill>
                <a:latin typeface="Aptos"/>
              </a:rPr>
              <a:t>Asset inventory and process-state observation identify PLCs, HMI, historian and polling relationships.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2880360"/>
            <a:ext cx="32461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936992" y="3081528"/>
            <a:ext cx="384048" cy="384048"/>
          </a:xfrm>
          <a:prstGeom prst="ellipse">
            <a:avLst/>
          </a:prstGeom>
          <a:solidFill>
            <a:srgbClr val="DC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36992" y="3136392"/>
            <a:ext cx="384048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3044952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6466A"/>
                </a:solidFill>
                <a:latin typeface="Aptos"/>
              </a:rPr>
              <a:t>Sustained process 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200" y="3374136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344054"/>
                </a:solidFill>
                <a:latin typeface="Aptos"/>
              </a:rPr>
              <a:t>Repeated control-state changes simulate persistent disruption that can prevent operator recovery until cleaned up.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07492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73B55"/>
                </a:solidFill>
                <a:latin typeface="Aptos"/>
              </a:rPr>
              <a:t>Persistence is covered twice: maintaining access on the IT/DMZ side, and sustaining unsafe process effects on the OT side until blue-team response resets the lab.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D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5CB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mnt/data/otsecpro_logo_no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14173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164592"/>
            <a:ext cx="7223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 / MITRE ATT&amp;CK for ICS Mapping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012680" y="246888"/>
            <a:ext cx="17373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6466A"/>
                </a:solidFill>
              </a:rPr>
              <a:t>OT Security Workshop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20040" y="685800"/>
            <a:ext cx="11567160" cy="0"/>
          </a:xfrm>
          <a:prstGeom prst="line">
            <a:avLst/>
          </a:prstGeom>
          <a:noFill/>
          <a:ln w="12700">
            <a:solidFill>
              <a:srgbClr val="C5E2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365760" y="6419088"/>
            <a:ext cx="4846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DAA"/>
                </a:solidFill>
              </a:rPr>
              <a:t>Safety  |  Resilience  |  Performance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875520" y="6419088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6466A"/>
                </a:solidFill>
              </a:rPr>
              <a:t>OTSecPro Training Lab</a:t>
            </a:r>
            <a:endParaRPr lang="en-US" sz="950" dirty="0"/>
          </a:p>
        </p:txBody>
      </p:sp>
      <p:sp>
        <p:nvSpPr>
          <p:cNvPr id="10" name="Rounded Rectangle 9"/>
          <p:cNvSpPr/>
          <p:nvPr/>
        </p:nvSpPr>
        <p:spPr>
          <a:xfrm>
            <a:off x="411480" y="914400"/>
            <a:ext cx="10972800" cy="4480560"/>
          </a:xfrm>
          <a:prstGeom prst="roundRect">
            <a:avLst/>
          </a:prstGeom>
          <a:solidFill>
            <a:srgbClr val="F9FCFF"/>
          </a:solidFill>
          <a:ln>
            <a:solidFill>
              <a:srgbClr val="C5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1480" y="914400"/>
            <a:ext cx="10972800" cy="411480"/>
          </a:xfrm>
          <a:prstGeom prst="rect">
            <a:avLst/>
          </a:prstGeom>
          <a:solidFill>
            <a:srgbClr val="064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033271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Tactic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1033271"/>
            <a:ext cx="32918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ATT&amp;CK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1033271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Lab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141732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073B55"/>
                </a:solidFill>
                <a:latin typeface="Aptos"/>
              </a:rPr>
              <a:t>Initial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1417320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0" b="0">
                <a:solidFill>
                  <a:srgbClr val="06466A"/>
                </a:solidFill>
                <a:latin typeface="Aptos"/>
              </a:rPr>
              <a:t>T0819 Exploit Public-Facing 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1417320"/>
            <a:ext cx="5349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0" b="0">
                <a:solidFill>
                  <a:srgbClr val="344054"/>
                </a:solidFill>
                <a:latin typeface="Aptos"/>
              </a:rPr>
              <a:t>Vulnerable web portal establishes first foothold.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920240"/>
            <a:ext cx="10972800" cy="512064"/>
          </a:xfrm>
          <a:prstGeom prst="rect">
            <a:avLst/>
          </a:prstGeom>
          <a:solidFill>
            <a:srgbClr val="EF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196596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073B55"/>
                </a:solidFill>
                <a:latin typeface="Aptos"/>
              </a:rPr>
              <a:t>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1965960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0" b="0">
                <a:solidFill>
                  <a:srgbClr val="06466A"/>
                </a:solidFill>
                <a:latin typeface="Aptos"/>
              </a:rPr>
              <a:t>T0807 Command-Line Interface / T0853 Scripting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965960"/>
            <a:ext cx="5349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0" b="0">
                <a:solidFill>
                  <a:srgbClr val="344054"/>
                </a:solidFill>
                <a:latin typeface="Aptos"/>
              </a:rPr>
              <a:t>Shell and script activity are used only inside the training environment.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51460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073B55"/>
                </a:solidFill>
                <a:latin typeface="Aptos"/>
              </a:rPr>
              <a:t>Persistence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2514600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0" b="0">
                <a:solidFill>
                  <a:srgbClr val="06466A"/>
                </a:solidFill>
                <a:latin typeface="Aptos"/>
              </a:rPr>
              <a:t>T1053.003 Scheduled Task/Job: Cron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2514600"/>
            <a:ext cx="5349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0" b="0">
                <a:solidFill>
                  <a:srgbClr val="344054"/>
                </a:solidFill>
                <a:latin typeface="Aptos"/>
              </a:rPr>
              <a:t>Recurring job/payload behavior demonstrates how access can survive interruptions.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017520"/>
            <a:ext cx="10972800" cy="512064"/>
          </a:xfrm>
          <a:prstGeom prst="rect">
            <a:avLst/>
          </a:prstGeom>
          <a:solidFill>
            <a:srgbClr val="EF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306324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073B55"/>
                </a:solidFill>
                <a:latin typeface="Aptos"/>
              </a:rPr>
              <a:t>Lateral Movement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3063240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0" b="0">
                <a:solidFill>
                  <a:srgbClr val="06466A"/>
                </a:solidFill>
                <a:latin typeface="Aptos"/>
              </a:rPr>
              <a:t>T0866 Remote Services / T0884 Connection Proxy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3063240"/>
            <a:ext cx="5349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0" b="0">
                <a:solidFill>
                  <a:srgbClr val="344054"/>
                </a:solidFill>
                <a:latin typeface="Aptos"/>
              </a:rPr>
              <a:t>SSH, jump host and proxy path show movement across Purdue segments.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61188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073B55"/>
                </a:solidFill>
                <a:latin typeface="Aptos"/>
              </a:rPr>
              <a:t>Discovery / Collection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3611880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0" b="0">
                <a:solidFill>
                  <a:srgbClr val="06466A"/>
                </a:solidFill>
                <a:latin typeface="Aptos"/>
              </a:rPr>
              <a:t>T0811 Repositories / T0801 Monitor Process State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3611880"/>
            <a:ext cx="5349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0" b="0">
                <a:solidFill>
                  <a:srgbClr val="344054"/>
                </a:solidFill>
                <a:latin typeface="Aptos"/>
              </a:rPr>
              <a:t>Inventory and process-state data guide target selection.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114800"/>
            <a:ext cx="10972800" cy="512064"/>
          </a:xfrm>
          <a:prstGeom prst="rect">
            <a:avLst/>
          </a:prstGeom>
          <a:solidFill>
            <a:srgbClr val="EF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4160520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073B55"/>
                </a:solidFill>
                <a:latin typeface="Aptos"/>
              </a:rPr>
              <a:t>Impair Process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4160520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0" b="0">
                <a:solidFill>
                  <a:srgbClr val="06466A"/>
                </a:solidFill>
                <a:latin typeface="Aptos"/>
              </a:rPr>
              <a:t>TA0106 + T0806 Brute Force I/O / T0836 Modify Parameter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4160520"/>
            <a:ext cx="5349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0" b="0">
                <a:solidFill>
                  <a:srgbClr val="344054"/>
                </a:solidFill>
                <a:latin typeface="Aptos"/>
              </a:rPr>
              <a:t>Repeated control changes and parameter manipulation simulate sustained process disruption.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709159"/>
            <a:ext cx="1417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073B55"/>
                </a:solidFill>
                <a:latin typeface="Aptos"/>
              </a:rPr>
              <a:t>Impact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48840" y="4709159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0" b="0">
                <a:solidFill>
                  <a:srgbClr val="06466A"/>
                </a:solidFill>
                <a:latin typeface="Aptos"/>
              </a:rPr>
              <a:t>T0813 Denial of Control / T0814 Denial of Service / T0815 Denial of 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4709159"/>
            <a:ext cx="5349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0" b="0">
                <a:solidFill>
                  <a:srgbClr val="344054"/>
                </a:solidFill>
                <a:latin typeface="Aptos"/>
              </a:rPr>
              <a:t>Operator/process disruption patterns are discussed and validated with evidence.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44068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>
                <a:solidFill>
                  <a:srgbClr val="63A7B8"/>
                </a:solidFill>
                <a:latin typeface="Aptos"/>
              </a:rPr>
              <a:t>Mapping combines ATT&amp;CK for ICS with Enterprise persistence where the lab action occurs on a Linux IT/DMZ host.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D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5CB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mnt/data/otsecpro_logo_no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14173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164592"/>
            <a:ext cx="7223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5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 / Blue-Team Practices for the Lab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012680" y="246888"/>
            <a:ext cx="17373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6466A"/>
                </a:solidFill>
              </a:rPr>
              <a:t>OT Security Workshop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20040" y="685800"/>
            <a:ext cx="11567160" cy="0"/>
          </a:xfrm>
          <a:prstGeom prst="line">
            <a:avLst/>
          </a:prstGeom>
          <a:noFill/>
          <a:ln w="12700">
            <a:solidFill>
              <a:srgbClr val="C5E2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365760" y="6419088"/>
            <a:ext cx="4846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DAA"/>
                </a:solidFill>
              </a:rPr>
              <a:t>Safety  |  Resilience  |  Performance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875520" y="6419088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6466A"/>
                </a:solidFill>
              </a:rPr>
              <a:t>OTSecPro Training Lab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005840" y="5596128"/>
            <a:ext cx="10241280" cy="365760"/>
          </a:xfrm>
          <a:prstGeom prst="roundRect">
            <a:avLst>
              <a:gd name="adj" fmla="val 12500"/>
            </a:avLst>
          </a:prstGeom>
          <a:solidFill>
            <a:srgbClr val="EEF7FA"/>
          </a:solidFill>
          <a:ln w="12700">
            <a:solidFill>
              <a:srgbClr val="0646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1078992" y="5660136"/>
            <a:ext cx="1009497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6466A"/>
                </a:solidFill>
              </a:rPr>
              <a:t>Defender goal: convert every red-team step into a repeatable detection, investigation and response playbook.</a:t>
            </a:r>
            <a:endParaRPr lang="en-US" sz="1120" dirty="0"/>
          </a:p>
        </p:txBody>
      </p:sp>
      <p:sp>
        <p:nvSpPr>
          <p:cNvPr id="21" name="Rounded Rectangle 20"/>
          <p:cNvSpPr/>
          <p:nvPr/>
        </p:nvSpPr>
        <p:spPr>
          <a:xfrm>
            <a:off x="502920" y="1051560"/>
            <a:ext cx="26060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C5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1051560"/>
            <a:ext cx="2606040" cy="91440"/>
          </a:xfrm>
          <a:prstGeom prst="rect">
            <a:avLst/>
          </a:prstGeom>
          <a:solidFill>
            <a:srgbClr val="14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" y="1307592"/>
            <a:ext cx="22768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dirty="0">
                <a:solidFill>
                  <a:srgbClr val="06466A"/>
                </a:solidFill>
                <a:latin typeface="Aptos"/>
              </a:rPr>
              <a:t>Evidence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1737360"/>
            <a:ext cx="2276856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344054"/>
                </a:solidFill>
              </a:defRPr>
            </a:pPr>
            <a:r>
              <a:rPr dirty="0"/>
              <a:t>Web/app logs and request payloads</a:t>
            </a:r>
          </a:p>
          <a:p>
            <a:pPr>
              <a:spcAft>
                <a:spcPts val="500"/>
              </a:spcAft>
              <a:defRPr sz="1050">
                <a:solidFill>
                  <a:srgbClr val="344054"/>
                </a:solidFill>
              </a:defRPr>
            </a:pPr>
            <a:r>
              <a:rPr dirty="0"/>
              <a:t>Auth/</a:t>
            </a:r>
            <a:r>
              <a:rPr dirty="0" err="1"/>
              <a:t>sudo</a:t>
            </a:r>
            <a:r>
              <a:rPr dirty="0"/>
              <a:t> logs and host process events</a:t>
            </a:r>
          </a:p>
          <a:p>
            <a:pPr>
              <a:spcAft>
                <a:spcPts val="500"/>
              </a:spcAft>
              <a:defRPr sz="1050">
                <a:solidFill>
                  <a:srgbClr val="344054"/>
                </a:solidFill>
              </a:defRPr>
            </a:pPr>
            <a:r>
              <a:rPr dirty="0"/>
              <a:t>Zeek connections and Suricata alerts</a:t>
            </a:r>
          </a:p>
          <a:p>
            <a:pPr>
              <a:spcAft>
                <a:spcPts val="500"/>
              </a:spcAft>
              <a:defRPr sz="1050">
                <a:solidFill>
                  <a:srgbClr val="344054"/>
                </a:solidFill>
              </a:defRPr>
            </a:pPr>
            <a:r>
              <a:rPr dirty="0"/>
              <a:t>HMI/API state and PLC protocol records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1051560"/>
            <a:ext cx="26060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C5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91840" y="1051560"/>
            <a:ext cx="2606040" cy="91440"/>
          </a:xfrm>
          <a:prstGeom prst="rect">
            <a:avLst/>
          </a:prstGeom>
          <a:solidFill>
            <a:srgbClr val="F28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56432" y="1307592"/>
            <a:ext cx="22768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6466A"/>
                </a:solidFill>
                <a:latin typeface="Aptos"/>
              </a:rPr>
              <a:t>Persistence checks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6432" y="1737360"/>
            <a:ext cx="2276856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344054"/>
                </a:solidFill>
              </a:defRPr>
            </a:pPr>
            <a:r>
              <a:t>Review crontab additions and file changes</a:t>
            </a:r>
          </a:p>
          <a:p>
            <a:pPr>
              <a:spcAft>
                <a:spcPts val="500"/>
              </a:spcAft>
              <a:defRPr sz="1050">
                <a:solidFill>
                  <a:srgbClr val="344054"/>
                </a:solidFill>
              </a:defRPr>
            </a:pPr>
            <a:r>
              <a:t>Detect recurring unusual binaries or scripts</a:t>
            </a:r>
          </a:p>
          <a:p>
            <a:pPr>
              <a:spcAft>
                <a:spcPts val="500"/>
              </a:spcAft>
              <a:defRPr sz="1050">
                <a:solidFill>
                  <a:srgbClr val="344054"/>
                </a:solidFill>
              </a:defRPr>
            </a:pPr>
            <a:r>
              <a:t>Monitor reverse connections after cleanup</a:t>
            </a:r>
          </a:p>
          <a:p>
            <a:pPr>
              <a:spcAft>
                <a:spcPts val="500"/>
              </a:spcAft>
              <a:defRPr sz="1050">
                <a:solidFill>
                  <a:srgbClr val="344054"/>
                </a:solidFill>
              </a:defRPr>
            </a:pPr>
            <a:r>
              <a:t>Validate no scheduled relaunch remains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0760" y="1051560"/>
            <a:ext cx="26060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C5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080760" y="1051560"/>
            <a:ext cx="2606040" cy="91440"/>
          </a:xfrm>
          <a:prstGeom prst="rect">
            <a:avLst/>
          </a:prstGeom>
          <a:solidFill>
            <a:srgbClr val="DC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45352" y="1307592"/>
            <a:ext cx="22768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6466A"/>
                </a:solidFill>
                <a:latin typeface="Aptos"/>
              </a:rPr>
              <a:t>OT anomaly themes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5352" y="1737360"/>
            <a:ext cx="2276856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344054"/>
                </a:solidFill>
              </a:defRPr>
            </a:pPr>
            <a:r>
              <a:t>Unauthorized Modbus source to PLCs</a:t>
            </a:r>
          </a:p>
          <a:p>
            <a:pPr>
              <a:spcAft>
                <a:spcPts val="500"/>
              </a:spcAft>
              <a:defRPr sz="1050">
                <a:solidFill>
                  <a:srgbClr val="344054"/>
                </a:solidFill>
              </a:defRPr>
            </a:pPr>
            <a:r>
              <a:t>Rapid coil/register write bursts</a:t>
            </a:r>
          </a:p>
          <a:p>
            <a:pPr>
              <a:spcAft>
                <a:spcPts val="500"/>
              </a:spcAft>
              <a:defRPr sz="1050">
                <a:solidFill>
                  <a:srgbClr val="344054"/>
                </a:solidFill>
              </a:defRPr>
            </a:pPr>
            <a:r>
              <a:t>Breaker flicker and alarm floods</a:t>
            </a:r>
          </a:p>
          <a:p>
            <a:pPr>
              <a:spcAft>
                <a:spcPts val="500"/>
              </a:spcAft>
              <a:defRPr sz="1050">
                <a:solidFill>
                  <a:srgbClr val="344054"/>
                </a:solidFill>
              </a:defRPr>
            </a:pPr>
            <a:r>
              <a:t>Unexpected source crossing conduits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69680" y="1051560"/>
            <a:ext cx="26060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C5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869680" y="1051560"/>
            <a:ext cx="2606040" cy="91440"/>
          </a:xfrm>
          <a:prstGeom prst="rect">
            <a:avLst/>
          </a:prstGeom>
          <a:solidFill>
            <a:srgbClr val="5CB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34272" y="1307592"/>
            <a:ext cx="227685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06466A"/>
                </a:solidFill>
                <a:latin typeface="Aptos"/>
              </a:rPr>
              <a:t>Response practice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4272" y="1737360"/>
            <a:ext cx="2276856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344054"/>
                </a:solidFill>
              </a:defRPr>
            </a:pPr>
            <a:r>
              <a:t>Confirm with at least two evidence types</a:t>
            </a:r>
          </a:p>
          <a:p>
            <a:pPr>
              <a:spcAft>
                <a:spcPts val="500"/>
              </a:spcAft>
              <a:defRPr sz="1050">
                <a:solidFill>
                  <a:srgbClr val="344054"/>
                </a:solidFill>
              </a:defRPr>
            </a:pPr>
            <a:r>
              <a:t>Scope by Purdue level and asset role</a:t>
            </a:r>
          </a:p>
          <a:p>
            <a:pPr>
              <a:spcAft>
                <a:spcPts val="500"/>
              </a:spcAft>
              <a:defRPr sz="1050">
                <a:solidFill>
                  <a:srgbClr val="344054"/>
                </a:solidFill>
              </a:defRPr>
            </a:pPr>
            <a:r>
              <a:t>Prioritize safety-relevant functions</a:t>
            </a:r>
          </a:p>
          <a:p>
            <a:pPr>
              <a:spcAft>
                <a:spcPts val="500"/>
              </a:spcAft>
              <a:defRPr sz="1050">
                <a:solidFill>
                  <a:srgbClr val="344054"/>
                </a:solidFill>
              </a:defRPr>
            </a:pPr>
            <a:r>
              <a:t>Reset lab state and document lessons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193792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73B55"/>
                </a:solidFill>
                <a:latin typeface="Aptos"/>
              </a:rPr>
              <a:t>Blue-team objective: detect both access persistence and persistent process manipulation before it becomes sustained plant impact.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D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5CB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1920240" y="164592"/>
            <a:ext cx="7223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sz="2300" b="1">
                <a:solidFill>
                  <a:srgbClr val="06466A"/>
                </a:solidFill>
              </a:rPr>
              <a:t>06 / Blue-Team Detection Map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012680" y="246888"/>
            <a:ext cx="17373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6466A"/>
                </a:solidFill>
              </a:rPr>
              <a:t>OT Security Workshop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20040" y="685800"/>
            <a:ext cx="11567160" cy="0"/>
          </a:xfrm>
          <a:prstGeom prst="line">
            <a:avLst/>
          </a:prstGeom>
          <a:noFill/>
          <a:ln w="12700">
            <a:solidFill>
              <a:srgbClr val="C5E2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365760" y="6419088"/>
            <a:ext cx="4846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DAA"/>
                </a:solidFill>
              </a:rPr>
              <a:t>Safety  |  Resilience  |  Performance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875520" y="6419088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6466A"/>
                </a:solidFill>
              </a:rPr>
              <a:t>OTSecPro Training Lab</a:t>
            </a:r>
            <a:endParaRPr lang="en-US" sz="950" dirty="0"/>
          </a:p>
        </p:txBody>
      </p:sp>
      <p:sp>
        <p:nvSpPr>
          <p:cNvPr id="21" name="Rounded Rectangle 20"/>
          <p:cNvSpPr/>
          <p:nvPr/>
        </p:nvSpPr>
        <p:spPr>
          <a:xfrm>
            <a:off x="502920" y="914400"/>
            <a:ext cx="10698480" cy="502920"/>
          </a:xfrm>
          <a:prstGeom prst="roundRect">
            <a:avLst/>
          </a:prstGeom>
          <a:solidFill>
            <a:srgbClr val="F5FAFC"/>
          </a:solidFill>
          <a:ln>
            <a:solidFill>
              <a:srgbClr val="C5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73B55"/>
                </a:solidFill>
              </a:rPr>
              <a:t>Map every red-team stage to evidence sources, high-signal detections and defender action.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02920" y="1600200"/>
          <a:ext cx="1069848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19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anchor="ctr">
                    <a:solidFill>
                      <a:srgbClr val="145D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Likely evidence</a:t>
                      </a:r>
                    </a:p>
                  </a:txBody>
                  <a:tcPr anchor="ctr">
                    <a:solidFill>
                      <a:srgbClr val="145D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Detection logic</a:t>
                      </a:r>
                    </a:p>
                  </a:txBody>
                  <a:tcPr anchor="ctr">
                    <a:solidFill>
                      <a:srgbClr val="145D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Blue-team action</a:t>
                      </a:r>
                    </a:p>
                  </a:txBody>
                  <a:tcPr anchor="ctr">
                    <a:solidFill>
                      <a:srgbClr val="145D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142337"/>
                          </a:solidFill>
                        </a:rPr>
                        <a:t>Web foothold</a:t>
                      </a:r>
                    </a:p>
                  </a:txBody>
                  <a:tcPr anchor="ctr">
                    <a:solidFill>
                      <a:srgbClr val="F8FC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42337"/>
                          </a:solidFill>
                        </a:rPr>
                        <a:t>Web/app logs, child process events</a:t>
                      </a:r>
                    </a:p>
                  </a:txBody>
                  <a:tcPr anchor="ctr">
                    <a:solidFill>
                      <a:srgbClr val="F8FC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42337"/>
                          </a:solidFill>
                        </a:rPr>
                        <a:t>Shell metacharacters, abnormal command execution from web service</a:t>
                      </a:r>
                    </a:p>
                  </a:txBody>
                  <a:tcPr anchor="ctr">
                    <a:solidFill>
                      <a:srgbClr val="F8FC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42337"/>
                          </a:solidFill>
                        </a:rPr>
                        <a:t>Block input path, preserve logs, confirm host scope</a:t>
                      </a:r>
                    </a:p>
                  </a:txBody>
                  <a:tcPr anchor="ctr">
                    <a:solidFill>
                      <a:srgbClr val="F8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142337"/>
                          </a:solidFill>
                        </a:rPr>
                        <a:t>Privileged access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42337"/>
                          </a:solidFill>
                        </a:rPr>
                        <a:t>sudo/auth logs, sensitive file access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42337"/>
                          </a:solidFill>
                        </a:rPr>
                        <a:t>Unexpected interpreter use, credential material exposure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42337"/>
                          </a:solidFill>
                        </a:rPr>
                        <a:t>Rotate lab credentials, review privilege boundary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142337"/>
                          </a:solidFill>
                        </a:rPr>
                        <a:t>Pivot / tunnel</a:t>
                      </a:r>
                    </a:p>
                  </a:txBody>
                  <a:tcPr anchor="ctr">
                    <a:solidFill>
                      <a:srgbClr val="F8FC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42337"/>
                          </a:solidFill>
                        </a:rPr>
                        <a:t>Zeek flows, host processes, unusual TLS ports</a:t>
                      </a:r>
                    </a:p>
                  </a:txBody>
                  <a:tcPr anchor="ctr">
                    <a:solidFill>
                      <a:srgbClr val="F8FC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42337"/>
                          </a:solidFill>
                        </a:rPr>
                        <a:t>New tunnel process, routing changes, unexpected cross-zone reachability</a:t>
                      </a:r>
                    </a:p>
                  </a:txBody>
                  <a:tcPr anchor="ctr">
                    <a:solidFill>
                      <a:srgbClr val="F8FC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42337"/>
                          </a:solidFill>
                        </a:rPr>
                        <a:t>Contain pivot host, validate conduits, capture flows</a:t>
                      </a:r>
                    </a:p>
                  </a:txBody>
                  <a:tcPr anchor="ctr">
                    <a:solidFill>
                      <a:srgbClr val="F8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142337"/>
                          </a:solidFill>
                        </a:rPr>
                        <a:t>Supervisory access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42337"/>
                          </a:solidFill>
                        </a:rPr>
                        <a:t>FTP logs, file access, inventory reads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42337"/>
                          </a:solidFill>
                        </a:rPr>
                        <a:t>Backdoor-like login pattern, suspicious asset inventory access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42337"/>
                          </a:solidFill>
                        </a:rPr>
                        <a:t>Isolate file server, verify inventory exposure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142337"/>
                          </a:solidFill>
                        </a:rPr>
                        <a:t>PLC impact / persistence</a:t>
                      </a:r>
                    </a:p>
                  </a:txBody>
                  <a:tcPr anchor="ctr">
                    <a:solidFill>
                      <a:srgbClr val="F8FC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42337"/>
                          </a:solidFill>
                        </a:rPr>
                        <a:t>Modbus records, HMI alarms, PLC state changes</a:t>
                      </a:r>
                    </a:p>
                  </a:txBody>
                  <a:tcPr anchor="ctr">
                    <a:solidFill>
                      <a:srgbClr val="F8FC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42337"/>
                          </a:solidFill>
                        </a:rPr>
                        <a:t>Unauthorized Modbus source, rapid coil/register writes, breaker oscillation</a:t>
                      </a:r>
                    </a:p>
                  </a:txBody>
                  <a:tcPr anchor="ctr">
                    <a:solidFill>
                      <a:srgbClr val="F8FC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142337"/>
                          </a:solidFill>
                        </a:rPr>
                        <a:t>Prioritize safety state, restore process, document ATT&amp;CK mapping</a:t>
                      </a:r>
                    </a:p>
                  </a:txBody>
                  <a:tcPr anchor="ctr">
                    <a:solidFill>
                      <a:srgbClr val="F8FC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685800" y="5349240"/>
            <a:ext cx="10332720" cy="420624"/>
          </a:xfrm>
          <a:prstGeom prst="roundRect">
            <a:avLst/>
          </a:prstGeom>
          <a:solidFill>
            <a:srgbClr val="E8F6E0"/>
          </a:solidFill>
          <a:ln>
            <a:solidFill>
              <a:srgbClr val="5CB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73B55"/>
                </a:solidFill>
              </a:rPr>
              <a:t>Workshop rule: alert only after evidence validation — avoid false correlation by requiring plant context + network/host/process signal.</a:t>
            </a:r>
          </a:p>
        </p:txBody>
      </p:sp>
      <p:pic>
        <p:nvPicPr>
          <p:cNvPr id="11" name="Image 0" descr="/mnt/data/otsecpro_logo_nobg.png">
            <a:extLst>
              <a:ext uri="{FF2B5EF4-FFF2-40B4-BE49-F238E27FC236}">
                <a16:creationId xmlns:a16="http://schemas.microsoft.com/office/drawing/2014/main" id="{5A27EFEE-E8B0-1B00-1482-A431AA7CD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14173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D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5CB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mnt/data/otsecpro_logo_no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14173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164592"/>
            <a:ext cx="7223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sz="2300" b="1">
                <a:solidFill>
                  <a:srgbClr val="06466A"/>
                </a:solidFill>
              </a:rPr>
              <a:t>07 / Closing Takeaways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012680" y="246888"/>
            <a:ext cx="17373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6466A"/>
                </a:solidFill>
              </a:rPr>
              <a:t>OT Security Workshop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20040" y="685800"/>
            <a:ext cx="11567160" cy="0"/>
          </a:xfrm>
          <a:prstGeom prst="line">
            <a:avLst/>
          </a:prstGeom>
          <a:noFill/>
          <a:ln w="12700">
            <a:solidFill>
              <a:srgbClr val="C5E2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365760" y="6419088"/>
            <a:ext cx="4846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45DAA"/>
                </a:solidFill>
              </a:rPr>
              <a:t>Safety  |  Resilience  |  Performance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875520" y="6419088"/>
            <a:ext cx="1920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6466A"/>
                </a:solidFill>
              </a:rPr>
              <a:t>OTSecPro Training Lab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85800" y="1143000"/>
            <a:ext cx="10789920" cy="1097280"/>
          </a:xfrm>
          <a:prstGeom prst="roundRect">
            <a:avLst>
              <a:gd name="adj" fmla="val 7500"/>
            </a:avLst>
          </a:prstGeom>
          <a:solidFill>
            <a:srgbClr val="EEF7FA"/>
          </a:solidFill>
          <a:ln w="12700">
            <a:solidFill>
              <a:srgbClr val="63A7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960120" y="1435608"/>
            <a:ext cx="10149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545"/>
                </a:solidFill>
              </a:rPr>
              <a:t>The workshop is not about running tools; it is about understanding trust boundaries and proving what happened.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822960" y="2743200"/>
            <a:ext cx="502920" cy="502920"/>
          </a:xfrm>
          <a:prstGeom prst="ellipse">
            <a:avLst/>
          </a:prstGeom>
          <a:solidFill>
            <a:srgbClr val="145D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822960" y="2880360"/>
            <a:ext cx="50292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508760" y="2761488"/>
            <a:ext cx="4206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5D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the plant first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508760" y="3090672"/>
            <a:ext cx="4389120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25466"/>
                </a:solidFill>
              </a:rPr>
              <a:t>Know assets, roles, conduits and safety-relevant functions before testing.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2960" y="3931920"/>
            <a:ext cx="502920" cy="502920"/>
          </a:xfrm>
          <a:prstGeom prst="ellipse">
            <a:avLst/>
          </a:prstGeom>
          <a:solidFill>
            <a:srgbClr val="145D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822960" y="4069080"/>
            <a:ext cx="50292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508760" y="3950208"/>
            <a:ext cx="4206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5D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Trace the attack path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508760" y="4279392"/>
            <a:ext cx="4389120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25466"/>
                </a:solidFill>
              </a:rPr>
              <a:t>Show how a weak enterprise entry can become OT control-path exposure.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63640" y="2743200"/>
            <a:ext cx="502920" cy="502920"/>
          </a:xfrm>
          <a:prstGeom prst="ellipse">
            <a:avLst/>
          </a:prstGeom>
          <a:solidFill>
            <a:srgbClr val="145D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6263640" y="2880360"/>
            <a:ext cx="50292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949440" y="2761488"/>
            <a:ext cx="4206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45D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 to ATT&amp;CK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949440" y="3090672"/>
            <a:ext cx="4389120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25466"/>
                </a:solidFill>
              </a:rPr>
              <a:t>Use ATT&amp;CK for ICS to standardize communication and reporting.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263640" y="3931920"/>
            <a:ext cx="502920" cy="502920"/>
          </a:xfrm>
          <a:prstGeom prst="ellipse">
            <a:avLst/>
          </a:prstGeom>
          <a:solidFill>
            <a:srgbClr val="5CBC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6263640" y="4069080"/>
            <a:ext cx="50292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949440" y="3950208"/>
            <a:ext cx="4206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5CBC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Defend with evidence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949440" y="4279392"/>
            <a:ext cx="4389120" cy="3931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25466"/>
                </a:solidFill>
              </a:rPr>
              <a:t>Correlate logs, flows, alerts, endpoint events, HMI state and process behavior.</a:t>
            </a:r>
            <a:endParaRPr lang="en-US" sz="1150" dirty="0"/>
          </a:p>
        </p:txBody>
      </p:sp>
      <p:pic>
        <p:nvPicPr>
          <p:cNvPr id="28" name="Image 1" descr="/mnt/data/otsecpro_logo_no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5257800"/>
            <a:ext cx="2377440" cy="82296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709160" y="4800600"/>
            <a:ext cx="2743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466A"/>
                </a:solidFill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1054</Words>
  <Application>Microsoft Office PowerPoint</Application>
  <PresentationFormat>Widescreen</PresentationFormat>
  <Paragraphs>164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OTSecPro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OTSecPro Workshop Details</dc:title>
  <dc:subject>OTSecPro OT Plant Red Team / Blue Team Workshop</dc:subject>
  <dc:creator>OpenAI</dc:creator>
  <cp:lastModifiedBy>Sanjay Hiremath</cp:lastModifiedBy>
  <cp:revision>2</cp:revision>
  <dcterms:created xsi:type="dcterms:W3CDTF">2026-10-08T14:05:44Z</dcterms:created>
  <dcterms:modified xsi:type="dcterms:W3CDTF">2026-10-08T16:14:08Z</dcterms:modified>
</cp:coreProperties>
</file>